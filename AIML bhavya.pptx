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Inter" panose="02000503000000020004"/>
      <p:regular r:id="rId13"/>
    </p:embeddedFont>
    <p:embeddedFont>
      <p:font typeface="Petrona Bold"/>
      <p:regular r:id="rId14"/>
      <p:bold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220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323752"/>
            <a:ext cx="4722763" cy="13954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Student Academic Performance Prediction System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496119" y="2931840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Using Study Hours, Attendance, and Learning Behavior Analysis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318123"/>
            <a:ext cx="2171105" cy="215354"/>
          </a:xfrm>
          <a:prstGeom prst="roundRect">
            <a:avLst>
              <a:gd name="adj" fmla="val 22119"/>
            </a:avLst>
          </a:prstGeom>
          <a:solidFill>
            <a:srgbClr val="CC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81174" y="3360613"/>
            <a:ext cx="2458194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YEAR ENGINEERING PROJECT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96119" y="3604320"/>
            <a:ext cx="2725638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007E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81174" y="3646810"/>
            <a:ext cx="301272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007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 LEARNING · PREDICTIVE ANALYTICS</a:t>
            </a:r>
            <a:endParaRPr lang="en-US" sz="8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FEC6C2-753E-8A45-99EC-237550FFD252}"/>
              </a:ext>
            </a:extLst>
          </p:cNvPr>
          <p:cNvSpPr txBox="1"/>
          <p:nvPr/>
        </p:nvSpPr>
        <p:spPr>
          <a:xfrm>
            <a:off x="450887" y="3979142"/>
            <a:ext cx="31536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K.Bhavya</a:t>
            </a:r>
            <a:r>
              <a:rPr lang="en-US" sz="1200"/>
              <a:t> Sri</a:t>
            </a:r>
            <a:endParaRPr lang="en-US" sz="1200" dirty="0"/>
          </a:p>
          <a:p>
            <a:r>
              <a:rPr lang="en-US" sz="1200" dirty="0"/>
              <a:t>323129510027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02506"/>
            <a:ext cx="4722763" cy="697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Problem with Traditional Evaluation</a:t>
            </a:r>
            <a:endParaRPr lang="en-US" sz="2150" dirty="0"/>
          </a:p>
        </p:txBody>
      </p:sp>
      <p:sp>
        <p:nvSpPr>
          <p:cNvPr id="4" name="Text 1"/>
          <p:cNvSpPr/>
          <p:nvPr/>
        </p:nvSpPr>
        <p:spPr>
          <a:xfrm>
            <a:off x="496119" y="1219795"/>
            <a:ext cx="4722763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Conventional systems rely on retrospective grading, leaving institutions reactive rather than proactive.</a:t>
            </a:r>
            <a:endParaRPr lang="en-US" sz="8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607121"/>
            <a:ext cx="4722763" cy="76088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73819" y="1727671"/>
            <a:ext cx="4424511" cy="17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Late Identification of At-Risk Students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673819" y="1949797"/>
            <a:ext cx="4424511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Struggling students are flagged only after poor results — when intervention is least effective.</a:t>
            </a:r>
            <a:endParaRPr lang="en-US" sz="8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447702"/>
            <a:ext cx="4722763" cy="76088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73819" y="2568253"/>
            <a:ext cx="4424511" cy="17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Siloed &amp; Underutilized Data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673819" y="2790379"/>
            <a:ext cx="4424511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Attendance, study hours, and behavior data exist separately and are rarely analyzed together.</a:t>
            </a:r>
            <a:endParaRPr lang="en-US" sz="8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288283"/>
            <a:ext cx="4722763" cy="76088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73819" y="3408834"/>
            <a:ext cx="4424511" cy="17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No Predictive Intelligence</a:t>
            </a:r>
            <a:endParaRPr lang="en-US" sz="1050" dirty="0"/>
          </a:p>
        </p:txBody>
      </p:sp>
      <p:sp>
        <p:nvSpPr>
          <p:cNvPr id="13" name="Text 7"/>
          <p:cNvSpPr/>
          <p:nvPr/>
        </p:nvSpPr>
        <p:spPr>
          <a:xfrm>
            <a:off x="673819" y="3630960"/>
            <a:ext cx="4424511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Without ML-driven forecasting, institutions cannot anticipate outcomes or personalize support.</a:t>
            </a:r>
            <a:endParaRPr lang="en-US" sz="8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4128864"/>
            <a:ext cx="4722763" cy="61205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73819" y="4249415"/>
            <a:ext cx="4424511" cy="17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Delayed Interventions</a:t>
            </a:r>
            <a:endParaRPr lang="en-US" sz="1050" dirty="0"/>
          </a:p>
        </p:txBody>
      </p:sp>
      <p:sp>
        <p:nvSpPr>
          <p:cNvPr id="16" name="Text 9"/>
          <p:cNvSpPr/>
          <p:nvPr/>
        </p:nvSpPr>
        <p:spPr>
          <a:xfrm>
            <a:off x="673819" y="4471541"/>
            <a:ext cx="4424511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processes slow response times, allowing academic decline to go unchecked.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4355"/>
            <a:ext cx="815176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Project Objectives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96119" y="1183035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system bridges the gap between raw institutional data and actionable academic intelligence.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569318"/>
            <a:ext cx="4004965" cy="149899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13508" y="1675656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56927" y="2136279"/>
            <a:ext cx="3683347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Predict Academic Performance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56927" y="2453878"/>
            <a:ext cx="36833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ML models to study hours, attendance, and behavior for accurate performance forecasting.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2842" y="1569318"/>
            <a:ext cx="4005039" cy="149899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60232" y="1675656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803651" y="2136279"/>
            <a:ext cx="3683422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Identify At-Risk Students Early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4803651" y="2453878"/>
            <a:ext cx="3683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Flag students showing early signs of academic difficulty before assessments occur.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3210074"/>
            <a:ext cx="4004965" cy="149899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413508" y="3316412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56927" y="3777035"/>
            <a:ext cx="3683347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Enable Personalized Guidance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656927" y="4094634"/>
            <a:ext cx="36833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individualized recommendations based on each student's learning patterns.</a:t>
            </a:r>
            <a:endParaRPr lang="en-US" sz="11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2842" y="3210074"/>
            <a:ext cx="4005039" cy="149899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560232" y="3316412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4803651" y="3777035"/>
            <a:ext cx="3683422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Support Data-Driven Decisions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4803651" y="4094634"/>
            <a:ext cx="3683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 faculty and administrators with dashboards and reports for timely intervention.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4395"/>
            <a:ext cx="815176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Existing System vs. Proposed Solution</a:t>
            </a:r>
            <a:endParaRPr lang="en-US" sz="1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19882"/>
            <a:ext cx="3989412" cy="39894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3232" y="2354461"/>
            <a:ext cx="3989412" cy="11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 Paradigm Shift in Academic Monitoring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663232" y="2506117"/>
            <a:ext cx="3989412" cy="255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proposed system replaces fragmented, manual evaluation with an integrated, ML-powered platform that continuously monitors, analyzes, and predicts student outcomes — enabling institutions to act before problems escalate.</a:t>
            </a:r>
            <a:endParaRPr lang="en-US" sz="550" dirty="0"/>
          </a:p>
        </p:txBody>
      </p:sp>
      <p:sp>
        <p:nvSpPr>
          <p:cNvPr id="6" name="Shape 3"/>
          <p:cNvSpPr/>
          <p:nvPr/>
        </p:nvSpPr>
        <p:spPr>
          <a:xfrm>
            <a:off x="4663232" y="2801094"/>
            <a:ext cx="3989412" cy="269230"/>
          </a:xfrm>
          <a:prstGeom prst="roundRect">
            <a:avLst>
              <a:gd name="adj" fmla="val 11058"/>
            </a:avLst>
          </a:prstGeom>
          <a:solidFill>
            <a:srgbClr val="CCEE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4074" y="2889647"/>
            <a:ext cx="88553" cy="7084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893469" y="2850654"/>
            <a:ext cx="3688333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is designed to be secure, scalable, and centralized — accessible to authorized faculty and administrators across departments.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334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System Architecture &amp; Overall Workflow</a:t>
            </a:r>
            <a:endParaRPr lang="en-US" sz="2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870570"/>
            <a:ext cx="8151763" cy="3521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41329" y="3092498"/>
            <a:ext cx="1210397" cy="462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Preprocessing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2441329" y="3618151"/>
            <a:ext cx="1210397" cy="454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Cleaning, normalization, feature selection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549316" y="3092498"/>
            <a:ext cx="1210397" cy="462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Performance Prediction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549316" y="3618151"/>
            <a:ext cx="1210397" cy="454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scoring and outcome forecasts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91193" y="1188294"/>
            <a:ext cx="1210397" cy="462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Collection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91193" y="1713947"/>
            <a:ext cx="1210397" cy="454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Attendance, study hours, assessments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053279" y="1188294"/>
            <a:ext cx="1210397" cy="462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Dashboard &amp; Reports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053279" y="1713947"/>
            <a:ext cx="1210397" cy="454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alerts, trend charts, interventions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014612" y="1188294"/>
            <a:ext cx="1210397" cy="462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ML Model Training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4014612" y="1713947"/>
            <a:ext cx="1210397" cy="454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Classification and regression algorithms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96119" y="4474071"/>
            <a:ext cx="8151763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pipeline ingests data from LMS, attendance systems, and assessment platforms — processing it through preprocessing and ML layers before surfacing actionable insights on the monitoring dashboard.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399604"/>
            <a:ext cx="4722763" cy="741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Core Modules &amp; Machine Learning Pipeline</a:t>
            </a:r>
            <a:endParaRPr lang="en-US" sz="2300" dirty="0"/>
          </a:p>
        </p:txBody>
      </p:sp>
      <p:sp>
        <p:nvSpPr>
          <p:cNvPr id="4" name="Shape 1"/>
          <p:cNvSpPr/>
          <p:nvPr/>
        </p:nvSpPr>
        <p:spPr>
          <a:xfrm>
            <a:off x="3925119" y="1275904"/>
            <a:ext cx="4722763" cy="799505"/>
          </a:xfrm>
          <a:prstGeom prst="roundRect">
            <a:avLst>
              <a:gd name="adj" fmla="val 5935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042842" y="1393627"/>
            <a:ext cx="4487317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Collection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042842" y="1632942"/>
            <a:ext cx="448731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Aggregates attendance, study hours, assignments, and assessment marks from multiple institutional sources.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925119" y="2165375"/>
            <a:ext cx="4722763" cy="799505"/>
          </a:xfrm>
          <a:prstGeom prst="roundRect">
            <a:avLst>
              <a:gd name="adj" fmla="val 5935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042842" y="2283098"/>
            <a:ext cx="4487317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Preprocessing &amp; Feature Selection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042842" y="2522413"/>
            <a:ext cx="448731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Cleans data, handles missing values, and selects predictive features using correlation analysis.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925119" y="3054846"/>
            <a:ext cx="4722763" cy="799505"/>
          </a:xfrm>
          <a:prstGeom prst="roundRect">
            <a:avLst>
              <a:gd name="adj" fmla="val 5935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042842" y="3172569"/>
            <a:ext cx="4487317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ML Prediction Engine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042842" y="3411885"/>
            <a:ext cx="448731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Applies Random Forest, Decision Trees, and Logistic Regression to forecast performance and risk scores.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925119" y="3944317"/>
            <a:ext cx="4722763" cy="799505"/>
          </a:xfrm>
          <a:prstGeom prst="roundRect">
            <a:avLst>
              <a:gd name="adj" fmla="val 5935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042842" y="4062040"/>
            <a:ext cx="4487317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Risk Identification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042842" y="4301356"/>
            <a:ext cx="448731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Classifies students as Safe, At-Risk, or Critical — triggering automated alerts for faculty review.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6141"/>
            <a:ext cx="8151763" cy="930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Performance Monitoring Dashboard &amp; Analytics</a:t>
            </a:r>
            <a:endParaRPr lang="en-US" sz="2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38536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720825"/>
            <a:ext cx="390294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Real-Time Institutional Intelligence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4749701" y="2095128"/>
            <a:ext cx="39029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dashboard provides faculty and administrators with a live view of class performance trends, individual student trajectories, and risk distributions — enabling timely, evidence-based interventions.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49701" y="3129930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Student-level performance trend charts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Department-wide risk distribution summaries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alert notifications for at-risk students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Exportable PDF and Excel performance reports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94358"/>
            <a:ext cx="815176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Technology Stack &amp; Security Framework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96119" y="1513880"/>
            <a:ext cx="390294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Technology Stack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496119" y="1905893"/>
            <a:ext cx="1880592" cy="1120973"/>
          </a:xfrm>
          <a:prstGeom prst="roundRect">
            <a:avLst>
              <a:gd name="adj" fmla="val 5312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2640" y="2052414"/>
            <a:ext cx="1587550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Backend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42640" y="2426717"/>
            <a:ext cx="158755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· Flask / Django · Scikit-learn · Pandas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8470" y="1905893"/>
            <a:ext cx="1880592" cy="1120973"/>
          </a:xfrm>
          <a:prstGeom prst="roundRect">
            <a:avLst>
              <a:gd name="adj" fmla="val 5312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64991" y="2052414"/>
            <a:ext cx="1587550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Frontend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2664991" y="2426717"/>
            <a:ext cx="158755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React.js · Chart.js · Bootstrap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6119" y="3168625"/>
            <a:ext cx="1880592" cy="1120973"/>
          </a:xfrm>
          <a:prstGeom prst="roundRect">
            <a:avLst>
              <a:gd name="adj" fmla="val 5312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2640" y="3315146"/>
            <a:ext cx="1587550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Database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2640" y="3689449"/>
            <a:ext cx="158755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MySQL · Redis (caching)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18470" y="3168625"/>
            <a:ext cx="1880592" cy="1120973"/>
          </a:xfrm>
          <a:prstGeom prst="roundRect">
            <a:avLst>
              <a:gd name="adj" fmla="val 5312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664991" y="3315146"/>
            <a:ext cx="1587550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DevOps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2664991" y="3689449"/>
            <a:ext cx="158755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 · Git · AWS / Azure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49701" y="1513880"/>
            <a:ext cx="390294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Security &amp; Privacy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749701" y="1888182"/>
            <a:ext cx="3902943" cy="1785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Role-based access control (RBAC) for students, faculty, and admins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encryption for data in transit and at rest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FERPA and GDPR-compliant data handling policies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logs for all system access and data modifications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Regular vulnerability scanning and penetration testing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41871"/>
            <a:ext cx="4722763" cy="334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Expected Outcomes &amp; Advantages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496119" y="936873"/>
            <a:ext cx="4722763" cy="336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30%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96119" y="1378967"/>
            <a:ext cx="4722763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Earlier Intervention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96119" y="1590005"/>
            <a:ext cx="472276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At-risk students identified weeks before traditional methods would flag them.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96119" y="1927399"/>
            <a:ext cx="4722763" cy="336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85%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96119" y="2369493"/>
            <a:ext cx="4722763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Prediction Accuracy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96119" y="2580531"/>
            <a:ext cx="472276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model accuracy using ensemble ML techniques on validated datasets.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96119" y="2917924"/>
            <a:ext cx="4722763" cy="336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40%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496119" y="3360018"/>
            <a:ext cx="4722763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Reduction in Failures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96119" y="3571056"/>
            <a:ext cx="472276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Projected decrease in student failure rates through proactive support.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96119" y="3908450"/>
            <a:ext cx="4722763" cy="336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24/7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496119" y="4350544"/>
            <a:ext cx="4722763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Monitoring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96119" y="4561582"/>
            <a:ext cx="472276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automated tracking with instant alerts for faculty and counselors.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Challenges, Future Enhancements &amp; Conclusion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496119" y="2174900"/>
            <a:ext cx="3989412" cy="11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Current Challenges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96119" y="2326556"/>
            <a:ext cx="3989412" cy="377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quality and consistency across departments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bias and fairness in predictions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privacy and ethical AI concerns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 with legacy institutional systems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496119" y="2739256"/>
            <a:ext cx="3989412" cy="11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Future Roadmap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96119" y="2890912"/>
            <a:ext cx="3989412" cy="377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learning behavior tracking via LMS APIs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learning models (LSTM) for temporal patterns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 app for student self-monitoring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 with counseling and support services</a:t>
            </a:r>
            <a:endParaRPr lang="en-US" sz="5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232" y="715342"/>
            <a:ext cx="3989412" cy="39894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96119" y="4784378"/>
            <a:ext cx="8151763" cy="196155"/>
          </a:xfrm>
          <a:prstGeom prst="roundRect">
            <a:avLst>
              <a:gd name="adj" fmla="val 15177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61" y="4872930"/>
            <a:ext cx="88553" cy="7084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26356" y="4837509"/>
            <a:ext cx="8307884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system transforms academic monitoring from reactive grading to proactive, predictive student success — empowering institutions to act with confidence and care.</a:t>
            </a:r>
            <a:endParaRPr lang="en-US" sz="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726</Words>
  <Application>Microsoft Macintosh PowerPoint</Application>
  <PresentationFormat>On-screen Show (16:9)</PresentationFormat>
  <Paragraphs>113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Inter</vt:lpstr>
      <vt:lpstr>Petrona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ashishdhanala@gmail.com</cp:lastModifiedBy>
  <cp:revision>3</cp:revision>
  <dcterms:created xsi:type="dcterms:W3CDTF">2026-07-28T05:16:27Z</dcterms:created>
  <dcterms:modified xsi:type="dcterms:W3CDTF">2026-10-05T05:53:56Z</dcterms:modified>
</cp:coreProperties>
</file>