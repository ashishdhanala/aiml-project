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embeddedFontLst>
    <p:embeddedFont>
      <p:font typeface="Inter" panose="02000503000000020004" pitchFamily="2" charset="0"/>
      <p:regular r:id="rId13"/>
    </p:embeddedFont>
    <p:embeddedFont>
      <p:font typeface="Petrona Bold" pitchFamily="2" charset="77"/>
      <p:regular r:id="rId14"/>
      <p:bold r:id="rId1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2207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>
              <a:alpha val="95000"/>
            </a:srgbClr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1323752"/>
            <a:ext cx="4722763" cy="13954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Student Academic Performance Prediction System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496119" y="2931840"/>
            <a:ext cx="5179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Using Study Hours, Attendance, and Learning Behavior Analysis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496119" y="3318123"/>
            <a:ext cx="2171105" cy="215354"/>
          </a:xfrm>
          <a:prstGeom prst="roundRect">
            <a:avLst>
              <a:gd name="adj" fmla="val 22119"/>
            </a:avLst>
          </a:prstGeom>
          <a:solidFill>
            <a:srgbClr val="CCEE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81174" y="3360613"/>
            <a:ext cx="245819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FINAL YEAR ENGINEERING PROJECT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496119" y="3604320"/>
            <a:ext cx="2725638" cy="215354"/>
          </a:xfrm>
          <a:prstGeom prst="roundRect">
            <a:avLst>
              <a:gd name="adj" fmla="val 22119"/>
            </a:avLst>
          </a:prstGeom>
          <a:noFill/>
          <a:ln w="4763">
            <a:solidFill>
              <a:srgbClr val="007E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81174" y="3646810"/>
            <a:ext cx="301272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850" dirty="0">
                <a:solidFill>
                  <a:srgbClr val="007EB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LEARNING · PREDICTIVE ANALYTICS</a:t>
            </a:r>
            <a:endParaRPr lang="en-US" sz="8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9FEC6C2-753E-8A45-99EC-237550FFD252}"/>
              </a:ext>
            </a:extLst>
          </p:cNvPr>
          <p:cNvSpPr txBox="1"/>
          <p:nvPr/>
        </p:nvSpPr>
        <p:spPr>
          <a:xfrm>
            <a:off x="450887" y="3979142"/>
            <a:ext cx="31536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Ashish Dhanala</a:t>
            </a:r>
          </a:p>
          <a:p>
            <a:r>
              <a:rPr lang="en-US" sz="1200" dirty="0"/>
              <a:t>32312951003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02506"/>
            <a:ext cx="4722763" cy="6977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The Problem with Traditional Evaluation</a:t>
            </a:r>
            <a:endParaRPr lang="en-US" sz="2150" dirty="0"/>
          </a:p>
        </p:txBody>
      </p:sp>
      <p:sp>
        <p:nvSpPr>
          <p:cNvPr id="4" name="Text 1"/>
          <p:cNvSpPr/>
          <p:nvPr/>
        </p:nvSpPr>
        <p:spPr>
          <a:xfrm>
            <a:off x="496119" y="1219795"/>
            <a:ext cx="4722763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Conventional systems rely on retrospective grading, leaving institutions reactive rather than proactive.</a:t>
            </a:r>
            <a:endParaRPr lang="en-US" sz="8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607121"/>
            <a:ext cx="4722763" cy="76088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73819" y="1727671"/>
            <a:ext cx="4424511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Late Identification of At-Risk Students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673819" y="1949797"/>
            <a:ext cx="442451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Struggling students are flagged only after poor results — when intervention is least effective.</a:t>
            </a:r>
            <a:endParaRPr lang="en-US" sz="8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2447702"/>
            <a:ext cx="4722763" cy="76088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73819" y="2568253"/>
            <a:ext cx="4424511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Siloed &amp; Underutilized Data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73819" y="2790379"/>
            <a:ext cx="442451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Attendance, study hours, and behavior data exist separately and are rarely analyzed together.</a:t>
            </a:r>
            <a:endParaRPr lang="en-US" sz="8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3288283"/>
            <a:ext cx="4722763" cy="76088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73819" y="3408834"/>
            <a:ext cx="4424511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No Predictive Intelligence</a:t>
            </a:r>
            <a:endParaRPr lang="en-US" sz="1050" dirty="0"/>
          </a:p>
        </p:txBody>
      </p:sp>
      <p:sp>
        <p:nvSpPr>
          <p:cNvPr id="13" name="Text 7"/>
          <p:cNvSpPr/>
          <p:nvPr/>
        </p:nvSpPr>
        <p:spPr>
          <a:xfrm>
            <a:off x="673819" y="3630960"/>
            <a:ext cx="4424511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ML-driven forecasting, institutions cannot anticipate outcomes or personalize support.</a:t>
            </a:r>
            <a:endParaRPr lang="en-US" sz="8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4128864"/>
            <a:ext cx="4722763" cy="61205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73819" y="4249415"/>
            <a:ext cx="4424511" cy="174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Delayed Interventions</a:t>
            </a:r>
            <a:endParaRPr lang="en-US" sz="1050" dirty="0"/>
          </a:p>
        </p:txBody>
      </p:sp>
      <p:sp>
        <p:nvSpPr>
          <p:cNvPr id="16" name="Text 9"/>
          <p:cNvSpPr/>
          <p:nvPr/>
        </p:nvSpPr>
        <p:spPr>
          <a:xfrm>
            <a:off x="673819" y="4471541"/>
            <a:ext cx="4424511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7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processes slow response times, allowing academic decline to go unchecked.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4355"/>
            <a:ext cx="8151763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Project Objectives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96119" y="1183035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system bridges the gap between raw institutional data and actionable academic intelligence.</a:t>
            </a:r>
            <a:endParaRPr lang="en-US" sz="11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569318"/>
            <a:ext cx="4004965" cy="14989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413508" y="1675656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656927" y="2136279"/>
            <a:ext cx="3683347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 Academic Performance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656927" y="2453878"/>
            <a:ext cx="36833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ML models to study hours, attendance, and behavior for accurate performance forecasting.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2842" y="1569318"/>
            <a:ext cx="4005039" cy="1498997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560232" y="1675656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4803651" y="2136279"/>
            <a:ext cx="3683422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Identify At-Risk Students Early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4803651" y="2453878"/>
            <a:ext cx="36834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 students showing early signs of academic difficulty before assessments occur.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3210074"/>
            <a:ext cx="4004965" cy="149899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413508" y="3316412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656927" y="3777035"/>
            <a:ext cx="3683347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Enable Personalized Guidance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656927" y="4094634"/>
            <a:ext cx="3683347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individualized recommendations based on each student's learning patterns.</a:t>
            </a:r>
            <a:endParaRPr lang="en-US" sz="11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42842" y="3210074"/>
            <a:ext cx="4005039" cy="149899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560232" y="3316412"/>
            <a:ext cx="170111" cy="21260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2"/>
          <p:cNvSpPr/>
          <p:nvPr/>
        </p:nvSpPr>
        <p:spPr>
          <a:xfrm>
            <a:off x="4803651" y="3777035"/>
            <a:ext cx="3683422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Support Data-Driven Decisions</a:t>
            </a:r>
            <a:endParaRPr lang="en-US" sz="1450" dirty="0"/>
          </a:p>
        </p:txBody>
      </p:sp>
      <p:sp>
        <p:nvSpPr>
          <p:cNvPr id="19" name="Text 13"/>
          <p:cNvSpPr/>
          <p:nvPr/>
        </p:nvSpPr>
        <p:spPr>
          <a:xfrm>
            <a:off x="4803651" y="4094634"/>
            <a:ext cx="3683422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Equip faculty and administrators with dashboards and reports for timely intervention.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94395"/>
            <a:ext cx="8151763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Existing System vs. Proposed Solution</a:t>
            </a:r>
            <a:endParaRPr lang="en-US" sz="145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719882"/>
            <a:ext cx="3989412" cy="398941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663232" y="2354461"/>
            <a:ext cx="3989412" cy="11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A Paradigm Shift in Academic Monitoring</a:t>
            </a:r>
            <a:endParaRPr lang="en-US" sz="700" dirty="0"/>
          </a:p>
        </p:txBody>
      </p:sp>
      <p:sp>
        <p:nvSpPr>
          <p:cNvPr id="5" name="Text 2"/>
          <p:cNvSpPr/>
          <p:nvPr/>
        </p:nvSpPr>
        <p:spPr>
          <a:xfrm>
            <a:off x="4663232" y="2506117"/>
            <a:ext cx="3989412" cy="2551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proposed system replaces fragmented, manual evaluation with an integrated, ML-powered platform that continuously monitors, analyzes, and predicts student outcomes — enabling institutions to act before problems escalate.</a:t>
            </a:r>
            <a:endParaRPr lang="en-US" sz="550" dirty="0"/>
          </a:p>
        </p:txBody>
      </p:sp>
      <p:sp>
        <p:nvSpPr>
          <p:cNvPr id="6" name="Shape 3"/>
          <p:cNvSpPr/>
          <p:nvPr/>
        </p:nvSpPr>
        <p:spPr>
          <a:xfrm>
            <a:off x="4663232" y="2801094"/>
            <a:ext cx="3989412" cy="269230"/>
          </a:xfrm>
          <a:prstGeom prst="roundRect">
            <a:avLst>
              <a:gd name="adj" fmla="val 11058"/>
            </a:avLst>
          </a:prstGeom>
          <a:solidFill>
            <a:srgbClr val="CCEE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4074" y="2889647"/>
            <a:ext cx="88553" cy="7084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93469" y="2850654"/>
            <a:ext cx="3688333" cy="170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system is designed to be secure, scalable, and centralized — accessible to authorized faculty and administrators across departments.</a:t>
            </a:r>
            <a:endParaRPr lang="en-US" sz="5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334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System Architecture &amp; Overall Workflow</a:t>
            </a:r>
            <a:endParaRPr lang="en-US" sz="2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870570"/>
            <a:ext cx="8151763" cy="3521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41329" y="3092498"/>
            <a:ext cx="1210397" cy="462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Preprocessing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2441329" y="3618151"/>
            <a:ext cx="1210397" cy="454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Cleaning, normalization, feature selection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549316" y="3092498"/>
            <a:ext cx="1210397" cy="462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Performance Prediction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549316" y="3618151"/>
            <a:ext cx="1210397" cy="454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scoring and outcome forecasts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91193" y="1188294"/>
            <a:ext cx="1210397" cy="462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Collection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91193" y="1713947"/>
            <a:ext cx="1210397" cy="454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Attendance, study hours, assessments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053279" y="1188294"/>
            <a:ext cx="1210397" cy="462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Dashboard &amp; Reports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053279" y="1713947"/>
            <a:ext cx="1210397" cy="454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alerts, trend charts, interventions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014612" y="1188294"/>
            <a:ext cx="1210397" cy="46294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Model Training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4014612" y="1713947"/>
            <a:ext cx="1210397" cy="454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Classification and regression algorithms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96119" y="4474071"/>
            <a:ext cx="8151763" cy="2800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pipeline ingests data from LMS, attendance systems, and assessment platforms — processing it through preprocessing and ML layers before surfacing actionable insights on the monitoring dashboard.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25119" y="399604"/>
            <a:ext cx="4722763" cy="7413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Core Modules &amp; Machine Learning Pipeline</a:t>
            </a:r>
            <a:endParaRPr lang="en-US" sz="2300" dirty="0"/>
          </a:p>
        </p:txBody>
      </p:sp>
      <p:sp>
        <p:nvSpPr>
          <p:cNvPr id="4" name="Shape 1"/>
          <p:cNvSpPr/>
          <p:nvPr/>
        </p:nvSpPr>
        <p:spPr>
          <a:xfrm>
            <a:off x="3925119" y="1275904"/>
            <a:ext cx="4722763" cy="799505"/>
          </a:xfrm>
          <a:prstGeom prst="roundRect">
            <a:avLst>
              <a:gd name="adj" fmla="val 5935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4042842" y="1393627"/>
            <a:ext cx="4487317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 Collection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042842" y="1632942"/>
            <a:ext cx="4487317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Aggregates attendance, study hours, assignments, and assessment marks from multiple institutional sources.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925119" y="2165375"/>
            <a:ext cx="4722763" cy="799505"/>
          </a:xfrm>
          <a:prstGeom prst="roundRect">
            <a:avLst>
              <a:gd name="adj" fmla="val 5935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042842" y="2283098"/>
            <a:ext cx="4487317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Preprocessing &amp; Feature Selection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4042842" y="2522413"/>
            <a:ext cx="4487317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Cleans data, handles missing values, and selects predictive features using correlation analysis.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925119" y="3054846"/>
            <a:ext cx="4722763" cy="799505"/>
          </a:xfrm>
          <a:prstGeom prst="roundRect">
            <a:avLst>
              <a:gd name="adj" fmla="val 5935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4042842" y="3172569"/>
            <a:ext cx="4487317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ML Prediction Engine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4042842" y="3411885"/>
            <a:ext cx="4487317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Applies Random Forest, Decision Trees, and Logistic Regression to forecast performance and risk scores.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925119" y="3944317"/>
            <a:ext cx="4722763" cy="799505"/>
          </a:xfrm>
          <a:prstGeom prst="roundRect">
            <a:avLst>
              <a:gd name="adj" fmla="val 5935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042842" y="4062040"/>
            <a:ext cx="4487317" cy="1853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Risk Identification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4042842" y="4301356"/>
            <a:ext cx="4487317" cy="3247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Classifies students as Safe, At-Risk, or Critical — triggering automated alerts for faculty review.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36141"/>
            <a:ext cx="8151763" cy="930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Performance Monitoring Dashboard &amp; Analytics</a:t>
            </a:r>
            <a:endParaRPr lang="en-US" sz="29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738536"/>
            <a:ext cx="3902943" cy="280935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749701" y="1720825"/>
            <a:ext cx="3902943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Real-Time Institutional Intelligence</a:t>
            </a:r>
            <a:endParaRPr lang="en-US" sz="1450" dirty="0"/>
          </a:p>
        </p:txBody>
      </p:sp>
      <p:sp>
        <p:nvSpPr>
          <p:cNvPr id="5" name="Text 2"/>
          <p:cNvSpPr/>
          <p:nvPr/>
        </p:nvSpPr>
        <p:spPr>
          <a:xfrm>
            <a:off x="4749701" y="2095128"/>
            <a:ext cx="390294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dashboard provides faculty and administrators with a live view of class performance trends, individual student trajectories, and risk distributions — enabling timely, evidence-based interventions.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749701" y="3129930"/>
            <a:ext cx="3902943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Student-level performance trend charts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Department-wide risk distribution summaries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Automated alert notifications for at-risk students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Exportable PDF and Excel performance reports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94358"/>
            <a:ext cx="8151763" cy="4651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Technology Stack &amp; Security Framework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496119" y="1513880"/>
            <a:ext cx="3902943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Technology Stack</a:t>
            </a:r>
            <a:endParaRPr lang="en-US" sz="1450" dirty="0"/>
          </a:p>
        </p:txBody>
      </p:sp>
      <p:sp>
        <p:nvSpPr>
          <p:cNvPr id="4" name="Shape 2"/>
          <p:cNvSpPr/>
          <p:nvPr/>
        </p:nvSpPr>
        <p:spPr>
          <a:xfrm>
            <a:off x="496119" y="1905893"/>
            <a:ext cx="1880592" cy="1120973"/>
          </a:xfrm>
          <a:prstGeom prst="roundRect">
            <a:avLst>
              <a:gd name="adj" fmla="val 5312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2640" y="2052414"/>
            <a:ext cx="1587550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Backend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2640" y="2426717"/>
            <a:ext cx="158755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Python · Flask / Django · Scikit-learn · Pandas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8470" y="1905893"/>
            <a:ext cx="1880592" cy="1120973"/>
          </a:xfrm>
          <a:prstGeom prst="roundRect">
            <a:avLst>
              <a:gd name="adj" fmla="val 5312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664991" y="2052414"/>
            <a:ext cx="1587550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Frontend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2664991" y="2426717"/>
            <a:ext cx="158755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React.js · Chart.js · Bootstrap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96119" y="3168625"/>
            <a:ext cx="1880592" cy="1120973"/>
          </a:xfrm>
          <a:prstGeom prst="roundRect">
            <a:avLst>
              <a:gd name="adj" fmla="val 5312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2640" y="3315146"/>
            <a:ext cx="1587550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Database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2640" y="3689449"/>
            <a:ext cx="158755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MySQL · Redis (caching)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518470" y="3168625"/>
            <a:ext cx="1880592" cy="1120973"/>
          </a:xfrm>
          <a:prstGeom prst="roundRect">
            <a:avLst>
              <a:gd name="adj" fmla="val 5312"/>
            </a:avLst>
          </a:prstGeom>
          <a:solidFill>
            <a:srgbClr val="CCEEFF"/>
          </a:solidFill>
          <a:ln w="4763">
            <a:solidFill>
              <a:srgbClr val="B2D4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664991" y="3315146"/>
            <a:ext cx="1587550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DevOps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2664991" y="3689449"/>
            <a:ext cx="1587550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· Git · AWS / Azure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749701" y="1513880"/>
            <a:ext cx="3902943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Security &amp; Privacy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4749701" y="1888182"/>
            <a:ext cx="3902943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Role-based access control (RBAC) for students, faculty, and admins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encryption for data in transit and at rest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FERPA and GDPR-compliant data handling policies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logs for all system access and data modifications</a:t>
            </a:r>
            <a:endParaRPr lang="en-US" sz="1100" dirty="0"/>
          </a:p>
          <a:p>
            <a:pPr marL="223520" indent="-22352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Regular vulnerability scanning and penetration testing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41871"/>
            <a:ext cx="4722763" cy="334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Expected Outcomes &amp; Advantages</a:t>
            </a:r>
            <a:endParaRPr lang="en-US" sz="2100" dirty="0"/>
          </a:p>
        </p:txBody>
      </p:sp>
      <p:sp>
        <p:nvSpPr>
          <p:cNvPr id="4" name="Text 1"/>
          <p:cNvSpPr/>
          <p:nvPr/>
        </p:nvSpPr>
        <p:spPr>
          <a:xfrm>
            <a:off x="496119" y="936873"/>
            <a:ext cx="4722763" cy="336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30%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496119" y="1378967"/>
            <a:ext cx="4722763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Earlier Intervention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496119" y="1590005"/>
            <a:ext cx="472276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At-risk students identified weeks before traditional methods would flag them.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96119" y="1927399"/>
            <a:ext cx="4722763" cy="336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85%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96119" y="2369493"/>
            <a:ext cx="4722763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Prediction Accuracy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96119" y="2580531"/>
            <a:ext cx="472276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Expected model accuracy using ensemble ML techniques on validated datasets.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496119" y="2917924"/>
            <a:ext cx="4722763" cy="336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40%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496119" y="3360018"/>
            <a:ext cx="4722763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Reduction in Failures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96119" y="3571056"/>
            <a:ext cx="472276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Projected decrease in student failure rates through proactive support.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496119" y="3908450"/>
            <a:ext cx="4722763" cy="336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60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24/7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96119" y="4350544"/>
            <a:ext cx="4722763" cy="1671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Monitoring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496119" y="4561582"/>
            <a:ext cx="4722763" cy="1400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8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automated tracking with instant alerts for faculty and counselors.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855"/>
            <a:ext cx="8151763" cy="2325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Challenges, Future Enhancements &amp; Conclusion</a:t>
            </a:r>
            <a:endParaRPr lang="en-US" sz="1450" dirty="0"/>
          </a:p>
        </p:txBody>
      </p:sp>
      <p:sp>
        <p:nvSpPr>
          <p:cNvPr id="3" name="Text 1"/>
          <p:cNvSpPr/>
          <p:nvPr/>
        </p:nvSpPr>
        <p:spPr>
          <a:xfrm>
            <a:off x="496119" y="2174900"/>
            <a:ext cx="3989412" cy="11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Current Challenges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496119" y="2326556"/>
            <a:ext cx="3989412" cy="3772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quality and consistency across departments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bias and fairness in predictions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privacy and ethical AI concerns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with legacy institutional systems</a:t>
            </a:r>
            <a:endParaRPr lang="en-US" sz="550" dirty="0"/>
          </a:p>
        </p:txBody>
      </p:sp>
      <p:sp>
        <p:nvSpPr>
          <p:cNvPr id="5" name="Text 3"/>
          <p:cNvSpPr/>
          <p:nvPr/>
        </p:nvSpPr>
        <p:spPr>
          <a:xfrm>
            <a:off x="496119" y="2739256"/>
            <a:ext cx="3989412" cy="1162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00" b="1" dirty="0">
                <a:solidFill>
                  <a:srgbClr val="000000"/>
                </a:solidFill>
                <a:latin typeface="Petrona Bold" pitchFamily="34" charset="0"/>
                <a:ea typeface="Petrona Bold" pitchFamily="34" charset="-122"/>
                <a:cs typeface="Petrona Bold" pitchFamily="34" charset="-120"/>
              </a:rPr>
              <a:t>Future Roadmap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496119" y="2890912"/>
            <a:ext cx="3989412" cy="37727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learning behavior tracking via LMS APIs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learning models (LSTM) for temporal patterns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Mobile app for student self-monitoring</a:t>
            </a:r>
            <a:endParaRPr lang="en-US" sz="550" dirty="0"/>
          </a:p>
          <a:p>
            <a:pPr marL="111760" indent="-111760" algn="l">
              <a:lnSpc>
                <a:spcPct val="100000"/>
              </a:lnSpc>
              <a:buSzPct val="100000"/>
              <a:buChar char="•"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 with counseling and support services</a:t>
            </a:r>
            <a:endParaRPr lang="en-US" sz="55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232" y="715342"/>
            <a:ext cx="3989412" cy="39894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96119" y="4784378"/>
            <a:ext cx="8151763" cy="196155"/>
          </a:xfrm>
          <a:prstGeom prst="roundRect">
            <a:avLst>
              <a:gd name="adj" fmla="val 15177"/>
            </a:avLst>
          </a:prstGeom>
          <a:solidFill>
            <a:srgbClr val="B6FCB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61" y="4872930"/>
            <a:ext cx="88553" cy="7084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26356" y="4837509"/>
            <a:ext cx="8307884" cy="85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system transforms academic monitoring from reactive grading to proactive, predictive student success — empowering institutions to act with confidence and care.</a:t>
            </a:r>
            <a:endParaRPr lang="en-US" sz="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724</Words>
  <Application>Microsoft Macintosh PowerPoint</Application>
  <PresentationFormat>On-screen Show (16:9)</PresentationFormat>
  <Paragraphs>113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Inter</vt:lpstr>
      <vt:lpstr>Petrona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ashishdhanala@gmail.com</cp:lastModifiedBy>
  <cp:revision>2</cp:revision>
  <dcterms:created xsi:type="dcterms:W3CDTF">2026-07-28T05:16:27Z</dcterms:created>
  <dcterms:modified xsi:type="dcterms:W3CDTF">2026-10-05T05:40:06Z</dcterms:modified>
</cp:coreProperties>
</file>